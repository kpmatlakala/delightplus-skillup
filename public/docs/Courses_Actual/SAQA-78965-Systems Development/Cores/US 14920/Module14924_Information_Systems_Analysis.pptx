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TITLE
Welcome learners. Set the tone: today we think like analysts before we code like developers.
Opening hook (3 minutes): Ask 'Think of one system you used this week – registration, banking, WhatsApp, LMS. What happens when it fails?' Capture 3 answers on the board under People | Process | Data.
Bridge: 'Everything we do today prevents expensive failure later. Good analysis saves money, time, and reputation.'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OUTCOMES
Anchor these 4 ideas throughout the day. Return to this slide during wrap-up and ask learners to self-assess against each outcome.
Key framing:
- SDLC: analysis must happen BEFORE coding
- Analyst role: translator between business reality and technical build
- Fact-finding: Who/What/Where/When/How/Why
- Techniques: DFDs and decision models are communication tools, not just diagrams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WHAT IS A SYSTEM?
Facilitator prompt: 'Name one system at your site. Identify one component, one input, one process, one output, and one feedback loop.'
Draw AS-IS vs TO-BE two columns on the board.
Transition: 'Now that we understand system foundations, SDLC gives us the lifecycle to execute improvements.'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ADAM'S STORY
Walk the cards left to right (one line each):
- Planning: agree on purpose and boundaries
- Requirements Analysis: define what users need
- Design: decide structure before building
- Implementation: build to design specs
- Testing: verify before release
- Deploy &amp; Maintain: run live, fix, improve
Key point: 'The point is not Adam's business – it's the journey from idea to reliable operation.'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 DIVIDER
Session opening:
1. Set context: what this session solves in the workplace
2. Walk through outcomes and define success clearly
3. Prime participation: ask 2 learners to share prior experience
Ask: 'What do you already know about systems analysis?'
Visual-first: draw a concept map on the board BEFORE text-heavy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SDLC PHASES
Facilitator question: 'Which SDLC phase is most commonly skipped under pressure?' (Implementation/Testing – and the consequences.)
Draw the 6 phases as a looped timeline on the board. Place one real task under each phase.
Transition: 'Now let's look at HOW different teams move through these phases – that's where Waterfall, Agile, and DevOps come in.'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SDLC MODELS
Key line to say clearly: 'Different methods, same lifecycle backbone.'
Ask: 'For a government attendance system with fixed specs – which would you choose and why?' Then: 'What if requirements changed every 2 weeks?'
CET context: lecturers can use Agile thinking when iterating on their own teaching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SYSTEMS ANALYSIS WHAT vs HOW
Key distinction to drive home: analysis defines WHAT must be done. Design/development defines HOW.
Ask: 'Name one system where someone built the HOW without understanding the WHAT first. What happened?'
Visual: draw AS-IS (current reality) vs TO-BE (desired future) two columns on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FEASIBILITY STUDY
5 dimensions. Walk through each briefly.
Activity: give learners 3 scenarios (new LMS, payroll system, student portal) and ask them to classify the MOST critical feasibility dimension for each – and defend their answer.
Key tangible/intangible split:
- Tangible benefits: faster processing, fewer errors, reduced manual time
- Intangible benefits: better decisions, stronger brand, staff satisfaction
- Tangible costs: hardware, licences, training
- Intangible costs: reputational risk, transition disruption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REQUIREMENTS ANALYSIS
The 6W framework: use these as interview spine.
Key distinction: users often describe workarounds built around a broken system. Requirements analysis must surface BOTH the current reality and the desired future state.
Live demo: take one real CET process (e.g. attendance) and apply all 6Ws together in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FACT-FINDING METHODS
Teaching flow: E-D-C cycle
1. Explain briefly
2. Demonstrate one example
3. Check learner attempt
Activity: give 3 scenarios. Learners decide best method combo + reason.
Scenario 1: Remote site, sensitive users, 200 respondents
Scenario 2: Small team, informal process, new system idea
Scenario 3: Existing system with suspected workarounds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ANALYST ROLES
Activity: give each learner a role card (Consultant / Supporting Expert / Agent of Change). Ask: 'In your current role as a lecturer – which of these do you already play when helping students with IT projects?'
Key point: the analyst is the translator between business reality and technical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2 DIVIDER
Ask: 'What do you already know about DFDs?'
Visual-first: draw a mini DFD symbol key on the board BEFORE slides:
- Rectangle with shadow = external entity
- Arrow = data flow
- Rounded rectangle / circle = process
- Open-ended rectangle / parallel lines = data store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DFD SYMBOLS
Draw the 4 symbols on whiteboard BEFORE this slide. Common confusion:
- Students mix up process and data store symbols
- Students add arrows between external entities (WRONG)
Live demo: draw a mini CET attendance DFD (Lecturer → [Mark Attendance] → D1 Attendance Record → [Generate Report] → Admin)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DFD LEVELS
Live draw: start with context diagram for CET Attendance System, then expand to Diagram 0 together as a class.
Key question for learners: 'What is the difference between context diagram and Diagram 0?' (Size of scope / level of detail / number of processes shown)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– DEVELOPMENT APPROACHES
Group activity: each team picks one approach and argues why it is best for a CET student tracker project. Then cross-examine each other.
Key Agile principle to emphasise: 'Working software is the primary measure of progress' – relevant for lecturers supervising student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ACTIVITY FACILITATOR NOTES
25 minutes. Assign roles to each team member before starting.
Circulate during activity. Prompt if stuck:
- 'Who else is affected when this system fails?'
- 'What would happen if that data flow didn't exist?'
- 'Which approach suits unstable requirements?'
Debrief: 'Which requirement is most risky if misunderstood?' → drives home the cost of analysis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1
Do NOT read the correct answer. Wait for learners to respond.
After reveal, ask: 'Can someone explain WHY option A and C are incorrect?' This deepens understanding beyond rote recall.
Correct answer: B – this is the classic 'workaround surfaced by requirements analysis'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2
Correct answer: C
This is a valid DFD: external entity → process → data store is one of the most common correct flows.
Distractors to discuss:
A – processes ARE named verb-noun (Validate Student Record is correct)
D – data stores CAN receive data from processes
Ask: 'What would make this INVALID?' → if Lecturer connected directly to D1 without a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3
Correct answer: B
Key reasoning: evolving requirements + small team + early delivery = Agile indicators.
A is wrong because Waterfall is rigid – changing requirements mid-project is costly.
C addresses tools, not approach to managing change.
D doesn't address the requirement instability problem.
Ask: 'What would need to be different for Waterfall to be the RIGHT answer?'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FACILITATOR NOTES (5–7 minutes)
Say: 'Today we moved from intuition to structured analysis. You can now define a system problem, gather facts, model data movement, and justify an approach before coding starts.'
Rapid recall with 4 different learners. Don't let the same person answer twice.
Return to board map and ask learners to place one concept under each heading.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it. Model it. Build the right thing.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73736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697480"/>
            <a:ext cx="173736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173736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Credits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697480"/>
            <a:ext cx="173736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SAQA ID: 14924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NQF Level 4  |  Knowledge Unit  |  Data Science Academy (DSA)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Towards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14924 – Learning Outcomes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640080" cy="1234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 of IS analysis within the SDLC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640080" cy="1234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key responsibilities of a systems analyst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640080" cy="1234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91440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00584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apply fact-finding / information-gathering techniques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31720"/>
            <a:ext cx="640080" cy="1234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33172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423160"/>
            <a:ext cx="3246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industry-standard systems analysis techniques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3840480"/>
            <a:ext cx="9144000" cy="73152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8404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you can define a system problem, gather facts, model data movement, and justify an approach BEFORE writing a single line of code.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SDLC: What Is a System?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– Foundation First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416052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21615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(people, tools, data stores, rules, interfaces) and how they connect. Missing components = missed dependencies.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96112"/>
            <a:ext cx="416052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96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21615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enters the system vs what it produces. Bad input creates bad output even with perfect logic (GIGO).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50592"/>
            <a:ext cx="416052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50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27706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activities that transform input into output. Process mapping exposes delays, rework, and bottlenecks.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50592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50592"/>
            <a:ext cx="4160520" cy="274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50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7706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info that adjusts future inputs. Without feedback, systems repeat mistakes and cannot improve.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Order matters: understand the system first, THEN use SDLC to deliver improvements with control.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Lifecycle: Adam's Story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from idea to stable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needs a structured path. Adam's online store is just one example: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325880" cy="141732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2700000">
            <a:off x="1581912" y="1536192"/>
            <a:ext cx="22860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46504" y="1371600"/>
            <a:ext cx="1325880" cy="14173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2700000">
            <a:off x="3008376" y="1536192"/>
            <a:ext cx="228600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1746504" y="137160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371600"/>
            <a:ext cx="1325880" cy="1417320"/>
          </a:xfrm>
          <a:prstGeom prst="rect">
            <a:avLst/>
          </a:prstGeom>
          <a:solidFill>
            <a:srgbClr val="1A7A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2700000">
            <a:off x="4434840" y="1536192"/>
            <a:ext cx="228600" cy="548640"/>
          </a:xfrm>
          <a:prstGeom prst="rect">
            <a:avLst/>
          </a:prstGeom>
          <a:solidFill>
            <a:srgbClr val="1A7A60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968" y="137160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99432" y="1371600"/>
            <a:ext cx="1325880" cy="1417320"/>
          </a:xfrm>
          <a:prstGeom prst="rect">
            <a:avLst/>
          </a:prstGeom>
          <a:solidFill>
            <a:srgbClr val="148F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 rot="2700000">
            <a:off x="5861304" y="1536192"/>
            <a:ext cx="228600" cy="5486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137160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25896" y="1371600"/>
            <a:ext cx="1325880" cy="1417320"/>
          </a:xfrm>
          <a:prstGeom prst="rect">
            <a:avLst/>
          </a:prstGeom>
          <a:solidFill>
            <a:srgbClr val="D4700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rot="2700000">
            <a:off x="7287768" y="1536192"/>
            <a:ext cx="228600" cy="54864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20" name="Text 18"/>
          <p:cNvSpPr/>
          <p:nvPr/>
        </p:nvSpPr>
        <p:spPr>
          <a:xfrm>
            <a:off x="6025896" y="137160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1371600"/>
            <a:ext cx="1325880" cy="1417320"/>
          </a:xfrm>
          <a:prstGeom prst="rect">
            <a:avLst/>
          </a:prstGeom>
          <a:solidFill>
            <a:srgbClr val="7D3C9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37160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017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system – attendance tracker, grants portal, student app – we need this structured lifecycle.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phase names may vary – but the logic is constant: Plan → Define → Design → Build → Validate → Release → Improve.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800" kern="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Systems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Explain IS analysis within the SDLC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79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Describe key analyst responsibilities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information-gathering techniques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570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Distinguish Systems Analysis from Requirements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11:00  |  90 minutes  |  Theory + Live Demo + Individual Activity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The Systems Development Life Cycle (SDLC)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– Introduction to Information Systems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SDLC divides a large project into manageable phases, each with defined activities and measurable deliverables.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011680" cy="2926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7465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2219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Go/No-Go Report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41732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417320"/>
            <a:ext cx="2011680" cy="2926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23744" y="17465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22219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SRS Document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41732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417320"/>
            <a:ext cx="2011680" cy="2926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0016" y="17465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22219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Conceptual Design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141732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417320"/>
            <a:ext cx="2011680" cy="2926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3" name="Text 21"/>
          <p:cNvSpPr/>
          <p:nvPr/>
        </p:nvSpPr>
        <p:spPr>
          <a:xfrm>
            <a:off x="6803136" y="1417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76288" y="17465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222199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Detailed Specs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2011680" cy="2926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926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7472" y="325526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37307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Working Build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50592" y="29260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2926080"/>
            <a:ext cx="2011680" cy="2926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3" name="Text 31"/>
          <p:cNvSpPr/>
          <p:nvPr/>
        </p:nvSpPr>
        <p:spPr>
          <a:xfrm>
            <a:off x="2450592" y="2926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23744" y="325526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23744" y="37307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Test Report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26864" y="2926080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2926080"/>
            <a:ext cx="2011680" cy="2926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8" name="Text 36"/>
          <p:cNvSpPr/>
          <p:nvPr/>
        </p:nvSpPr>
        <p:spPr>
          <a:xfrm>
            <a:off x="4626864" y="2926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0016" y="325526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Maintain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0016" y="37307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Live System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maintenance often costs 2× the original development. Documentation during build is not optional – it is survival.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1.1A How Teams Execute the Same SDLC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vs Agile vs DevOps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86968"/>
            <a:ext cx="2651760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requirements, regulated projects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377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2606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 – each must be signed off before the next begins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383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3611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flexibility when requirements change late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8696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86968"/>
            <a:ext cx="2651760" cy="38404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371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requirements, fast feedback needed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377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0128" y="2606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 with stakeholder review after each cycle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3383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0128" y="3611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disciplined backlog and active user participation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886968"/>
            <a:ext cx="2651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886968"/>
            <a:ext cx="2651760" cy="38404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0488" y="137160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0488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release environments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488" y="23774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90488" y="26060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build/test/deploy; continuous monitoring and feedback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0488" y="338328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90488" y="3611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automation maturity and shared dev-ops ownership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Same SDLC backbone. Different execution rhythm. Model choice depends on project size, stability, and delivery speed.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Systems Analysis – WHAT, Not HOW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distinction in the field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33832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are the objectives?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data must be captured?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7802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Who are the users?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1693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decisions does it support?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are the business rules?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69080" cy="3383280"/>
          </a:xfrm>
          <a:prstGeom prst="rect">
            <a:avLst/>
          </a:prstGeom>
          <a:solidFill>
            <a:srgbClr val="F0F4F8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4069080" cy="59436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1440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DEVELOPMENT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Which language/framework?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3911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What database structure?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478024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Which server architecture?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1693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How will the UI look?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3558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What APIs are needed?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Coding before analysis is like building a house without blueprints. You work hard, but you build the wrong thing.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Feasibility Study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commit resources before we plan the build?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determine whether the proposed system is DESIRABLE before resources are committed.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28016" cy="1234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8562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comply with laws and regulations?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417320"/>
            <a:ext cx="128016" cy="123444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8562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conform to ethical norms and POPIA?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41732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417320"/>
            <a:ext cx="128016" cy="12344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8562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the technology and skills?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128016" cy="12344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273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benefits outweigh costs over time?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83464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34640"/>
            <a:ext cx="128016" cy="12344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3273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staff accept and use it effectively?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Cost-Benefit: list costs AND benefits (tangible &amp; intangible). Consider future growth. Study results before committing.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Requirements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WILL do – agreed by all stakeholders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produce a Requirements Specification – a detailed agreement on WHAT the system will do.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06040" cy="3108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decision-makers, stakeholders, data sources, affected parties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71600"/>
            <a:ext cx="2606040" cy="3108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716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7190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captured/processed/stored, business rules, decisions supported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371600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371600"/>
            <a:ext cx="2606040" cy="3108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3716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17190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origin, processing location, output delivery, remote sites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700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70048"/>
            <a:ext cx="2606040" cy="3108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timing, report availability, volume peaks, constraints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6700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670048"/>
            <a:ext cx="2606040" cy="3108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301752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flows, how decisions are made, how errors are handled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2670048"/>
            <a:ext cx="26060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2670048"/>
            <a:ext cx="2606040" cy="3108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301752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purpose, justification, strategic objectives being served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ask what IS being done AND what SHOULD be done. Users describe workarounds – requirements analysis must surface both current reality and desired future.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Fact-Finding Methods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technique for the right situation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10972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9601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Complex processes, sensitive topics, need for follow-up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960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Uncovers context and opinion; allows probing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664208"/>
            <a:ext cx="10972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642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17099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Existing forms, reports, policies, data definitions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17099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Reveals what system ACTUALLY does vs what people think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85039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14016"/>
            <a:ext cx="10972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14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4597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Informal workarounds suspected; users may not accurately self-report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45973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Shows real process including undocumented steps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63824"/>
            <a:ext cx="85039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63824"/>
            <a:ext cx="10972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6382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94560" y="320954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Many respondents; anonymity encourages honest answers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320954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Cost-effective at scale; statistical analysis possible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13632"/>
            <a:ext cx="85039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913632"/>
            <a:ext cx="109728" cy="65836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136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94560" y="395935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Requirements are unclear; users need 'something to react to'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395935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Rapid feedback; surfaces hidden needs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Scenario practice: given a remote site with sensitive users and 200 respondents – which 2 methods would you combine and why?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Role of the Systems Analyst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hats, four qualities, many responsibilities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86968"/>
            <a:ext cx="26517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Consultant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expert hired for a specific problem. Brings independence and specialist knowledge.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86968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86968"/>
            <a:ext cx="26517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Supporting Expert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298448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specialist assisting a team. Advises on IT capabilities without owning the project.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886968"/>
            <a:ext cx="26517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886968"/>
            <a:ext cx="26517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Agent of Change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0488" y="1298448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organisational transformation. Analyses current state, proposes improvements, guides adoption.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24912"/>
            <a:ext cx="850392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249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QUALITIES OF AN EFFECTIVE ANALYST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90672"/>
            <a:ext cx="406908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90672"/>
            <a:ext cx="91440" cy="47548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906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Solver: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complex problems into parts; finds root causes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090672"/>
            <a:ext cx="40690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090672"/>
            <a:ext cx="91440" cy="47548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0906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Communicator: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technical ↔ non-technical; active listener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57600"/>
            <a:ext cx="4069080" cy="475488"/>
          </a:xfrm>
          <a:prstGeom prst="rect">
            <a:avLst/>
          </a:prstGeom>
          <a:solidFill>
            <a:srgbClr val="F0F4F8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657600"/>
            <a:ext cx="91440" cy="47548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6576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00200" y="3657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sensitive data with integrity; POPIA-aware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40690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D0E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3657600"/>
            <a:ext cx="91440" cy="47548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6576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Self-Disciplined: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97880" y="3657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deadlines; drives tasks with minimal supervision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800" kern="0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Data Flow Diagrams (DFDs) to document processes and data movement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79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decision trees and decision tables to model business logic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Compare structured, OO, Agile, JAD, and RAD approaches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570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Identify CASE tools and their role in systems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– 14:00  |  Interactive + Team Activity + PoE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Data Flow Diagrams – The 4 Symbols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– Systems Analysis Techniques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DFD shows how data moves. It describes WHAT the system does – not HOW it does it technically.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1280160" cy="15544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25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7099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 a NOUN (Student, Lecturer, Bank). A source or sink of data outside the system boundary.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with shadow / double border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25880"/>
            <a:ext cx="1280160" cy="1554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25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Verb-Noun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1417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709928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verb-adjective-noun (Validate Student Record). Transforms input into output. A 'black box' at this level.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25603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rectangle or circle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44952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44952"/>
            <a:ext cx="1280160" cy="155448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04495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Store Name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136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4290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 a NOUN + reference number D1, D2... Represents a database, file, or filing cabinet.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2793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rectangle (parallel lines)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044952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44952"/>
            <a:ext cx="1280160" cy="155448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044952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Flow Name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3136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42900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 a NOUN describing the data (Enrolment Form, Payment Confirmation). Arrow shows direction.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42793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with direction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Context Diagram rules: (1) exactly ONE process  (2) no freestanding objects  (3) entities cannot connect to each other  (4) every flow connects to/from the process.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DFD Levels – From Big Picture to Detail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→ Diagram 0 → Child Diagrams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51760" cy="3840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(Level 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the ENTIRE system as ONE process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external entities around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data flows in and out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internal detail – boundary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651760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0 (Level 1)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3898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Explodes the single process into 4–7 sub-processes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075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major data flows between them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7614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Introduces data stores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4472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BALANCE with context diagram flows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9144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14400"/>
            <a:ext cx="2651760" cy="38404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Diagrams (Level 2+)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3898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Diagram 0 process can be expanded further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075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until processes are simple enough to specify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7614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Balancing rule: inputs/outputs of parent = inputs/outputs of child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416552"/>
            <a:ext cx="8503920" cy="347472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41655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DFD = WHAT the business does | Physical DFD = HOW it will be implemented. Start LOGICAL, then move to PHYSICAL.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Systems Development Approaches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execution model for the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69748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SDLC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Stable, well-defined requirements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documentation; sequential sign-offs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82112" y="914400"/>
            <a:ext cx="26974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14400"/>
            <a:ext cx="269748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3182112" y="914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CASE-Supported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Productivity, consistency, life-cycle integration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18013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automate tasks, generate code, enforce standards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9904" y="914400"/>
            <a:ext cx="26974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914400"/>
            <a:ext cx="2697480" cy="32004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9144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(OO)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Rapidly changing requirements; reuse-critical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344" y="180136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cycles; system viewed as objects interacting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26974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50592"/>
            <a:ext cx="2697480" cy="32004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450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8163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 teams; evolving needs; frequent delivery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37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over documentation; respond to change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82112" y="2450592"/>
            <a:ext cx="26974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450592"/>
            <a:ext cx="2697480" cy="32004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27" name="Text 25"/>
          <p:cNvSpPr/>
          <p:nvPr/>
        </p:nvSpPr>
        <p:spPr>
          <a:xfrm>
            <a:off x="3182112" y="2450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 Workshops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28163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Need stakeholder buy-in and shared requirements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73552" y="3337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sessions; faster consensus; more expensive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450592"/>
            <a:ext cx="269748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450592"/>
            <a:ext cx="26974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6089904" y="24505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81344" y="28163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UI-heavy systems; speed is priority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33375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Prototyping-heavy; user involved every phase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462272"/>
            <a:ext cx="9144000" cy="521208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462272"/>
            <a:ext cx="8595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Model choice is a decision, not a default. Ask: How stable are requirements? How fast must we deliver? How large is the team?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  –  25 Minutes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Analyse the CET Attendance System Redesign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statement (1 sentence)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75688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Stakeholder list (internal + external)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51176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Fact-finding plan (3+ methods with reasons)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26664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Mini Context DFD (entities + main process + flows)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02152"/>
            <a:ext cx="5943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Recommendation: Waterfall or Agile – with justification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1600200"/>
            <a:ext cx="2286000" cy="2651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965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350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Scribe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7340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DFD Modeler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3118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502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Timekeeper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343400"/>
            <a:ext cx="859536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QUESTIONS:  Which requirement is most risky if misunderstood?  |  What data flow is missing?  |  How would your recommendation change if requirements were unstable?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 1 of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Quiz – pause, think, then discuss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 systems analyst is studying an existing attendance process and discovers that lecturers have been using WhatsApp to track attendance because the official system is unreliable.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finding MOST directly highlight the need for?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5059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5059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programming language for the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8229600" cy="438912"/>
          </a:xfrm>
          <a:prstGeom prst="rect">
            <a:avLst/>
          </a:prstGeom>
          <a:solidFill>
            <a:srgbClr val="E8F8F5"/>
          </a:solidFill>
          <a:ln w="1905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535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95351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to distinguish current reality from desired future state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56432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564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45643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server to run the existing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95935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95935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questionnaire sent to all lecturers immediately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 2 of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Quiz – pause, think, then discuss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In a Data Flow Diagram, a process named 'Validate Student Record' receives a data flow from a Lecturer (external entity) and sends output to a data store called D1 Student Database.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DFD rule is this process VIOLATING?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146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must be named using a noun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175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entities cannot send data to processes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E8F8F5"/>
          </a:solidFill>
          <a:ln w="1905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04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valid – no rule is being violated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233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 cannot receive data from processes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 3 of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Quiz – pause, think, then discuss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 college is building a new student registration portal. Requirements keep changing as stakeholders give new input every week. The team is small (4 developers). Early delivery of working features is important.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development approach is MOST suitable?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146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Waterfall SDLC with strict phase sign-offs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438912"/>
          </a:xfrm>
          <a:prstGeom prst="rect">
            <a:avLst/>
          </a:prstGeom>
          <a:solidFill>
            <a:srgbClr val="E8F8F5"/>
          </a:solidFill>
          <a:ln w="1905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175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(Scrum) with iterative sprints and weekly stakeholder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04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CASE-supported development with automated code 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233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 to an external vendor with fixed-price contract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14924 – Information Systems Analysis  |  SAQA ID: 78965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8F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WRAP-UP  &amp;  KEY TAKEAWAYS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recall – 4 questions: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Explain SDLC in one sentence.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Give one fact-finding technique and its best-use case.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difference between Context Diagram and Diagram 0?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When would Agile be better than strict sequential SDLC?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consolidation: return to board map  →  Problem | Requirements | Models | Recommendation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069080"/>
            <a:ext cx="8412480" cy="914400"/>
          </a:xfrm>
          <a:prstGeom prst="rect">
            <a:avLst/>
          </a:prstGeom>
          <a:solidFill>
            <a:srgbClr val="1C3B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workbook activities + keep DFD practice pages for PoE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Bring one real workplace system issue for tomorrow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 attendance register before leaving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Analysis – Module 14924</dc:title>
  <dc:subject>PptxGenJS Presentation</dc:subject>
  <dc:creator>PptxGenJS</dc:creator>
  <cp:lastModifiedBy>PptxGenJS</cp:lastModifiedBy>
  <cp:revision>1</cp:revision>
  <dcterms:created xsi:type="dcterms:W3CDTF">2026-03-06T15:18:45Z</dcterms:created>
  <dcterms:modified xsi:type="dcterms:W3CDTF">2026-03-06T15:18:45Z</dcterms:modified>
</cp:coreProperties>
</file>